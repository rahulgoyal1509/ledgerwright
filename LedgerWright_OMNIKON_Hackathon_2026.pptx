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98480" y="0"/>
            <a:ext cx="1490472" cy="914400"/>
          </a:xfrm>
          <a:prstGeom prst="rect">
            <a:avLst/>
          </a:prstGeom>
          <a:solidFill>
            <a:srgbClr val="23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943600"/>
            <a:ext cx="1490472" cy="914400"/>
          </a:xfrm>
          <a:prstGeom prst="rect">
            <a:avLst/>
          </a:prstGeom>
          <a:solidFill>
            <a:srgbClr val="23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40080"/>
            <a:ext cx="12191695" cy="10972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201168"/>
            <a:ext cx="301752" cy="3017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182880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OMNIKON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393192"/>
            <a:ext cx="219456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50" b="1">
                <a:solidFill>
                  <a:srgbClr val="71717A"/>
                </a:solidFill>
                <a:latin typeface="Aptos"/>
              </a:defRPr>
            </a:pPr>
            <a:r>
              <a:t>NATIONAL HACKATHON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7080" y="246888"/>
            <a:ext cx="7772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1000" b="1">
                <a:solidFill>
                  <a:srgbClr val="71717A"/>
                </a:solidFill>
                <a:latin typeface="Aptos Display"/>
              </a:defRPr>
            </a:pPr>
            <a:r>
              <a:t>01 // 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1051560"/>
            <a:ext cx="21945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 b="1">
                <a:solidFill>
                  <a:srgbClr val="71717A"/>
                </a:solidFill>
                <a:latin typeface="Aptos"/>
              </a:defRPr>
            </a:pPr>
            <a:r>
              <a:t>TEAM 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1280160"/>
            <a:ext cx="29260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100" b="1">
                <a:solidFill>
                  <a:srgbClr val="DC2626"/>
                </a:solidFill>
                <a:latin typeface="Aptos Display"/>
              </a:defRPr>
            </a:pPr>
            <a:r>
              <a:t>LedgerWright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1847088"/>
            <a:ext cx="219456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 b="1">
                <a:solidFill>
                  <a:srgbClr val="71717A"/>
                </a:solidFill>
                <a:latin typeface="Aptos"/>
              </a:defRPr>
            </a:pPr>
            <a:r>
              <a:t>MEMBERS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2075688"/>
            <a:ext cx="3657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Aptos"/>
              </a:defRPr>
            </a:pPr>
            <a:r>
              <a:t>Rahul Kumar Goyal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2651760"/>
            <a:ext cx="256032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 b="1">
                <a:solidFill>
                  <a:srgbClr val="71717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2880360"/>
            <a:ext cx="40233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300" b="0">
                <a:solidFill>
                  <a:srgbClr val="A1A1AA"/>
                </a:solidFill>
                <a:latin typeface="Aptos"/>
              </a:defRPr>
            </a:pPr>
            <a:r>
              <a:t>Omni_FinTech_5 — Automated</a:t>
            </a:r>
            <a:br/>
            <a:r>
              <a:t>Account Reconciliation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3675887"/>
            <a:ext cx="18288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 b="1">
                <a:solidFill>
                  <a:srgbClr val="71717A"/>
                </a:solidFill>
                <a:latin typeface="Aptos"/>
              </a:defRPr>
            </a:pPr>
            <a:r>
              <a:t>THEME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904487"/>
            <a:ext cx="310896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FinTech &amp;</a:t>
            </a:r>
            <a:br/>
            <a:r>
              <a:t>Financial Inclusion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1874519"/>
            <a:ext cx="4937760" cy="1234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Aptos Display"/>
              </a:defRPr>
            </a:pPr>
            <a:r>
              <a:t>Ledger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2880360"/>
            <a:ext cx="4937760" cy="1234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5200" b="1">
                <a:solidFill>
                  <a:srgbClr val="DC2626"/>
                </a:solidFill>
                <a:latin typeface="Aptos Display"/>
              </a:defRPr>
            </a:pPr>
            <a:r>
              <a:t>Wright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4069080"/>
            <a:ext cx="42062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100" b="0">
                <a:solidFill>
                  <a:srgbClr val="71717A"/>
                </a:solidFill>
                <a:latin typeface="Aptos"/>
              </a:defRPr>
            </a:pPr>
            <a:r>
              <a:t>An AI reconciliation agent that closes the books for small businesses automatically.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656832"/>
            <a:ext cx="27432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50" b="1">
                <a:solidFill>
                  <a:srgbClr val="71717A"/>
                </a:solidFill>
                <a:latin typeface="Aptos Display"/>
              </a:defRPr>
            </a:pPr>
            <a:r>
              <a:t>●  ONE MISSION. BUILD THE IMPOSSIBLE.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69880" y="6665976"/>
            <a:ext cx="210312" cy="6400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634472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799063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963655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1128248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1292840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98480" y="0"/>
            <a:ext cx="1490472" cy="914400"/>
          </a:xfrm>
          <a:prstGeom prst="rect">
            <a:avLst/>
          </a:prstGeom>
          <a:solidFill>
            <a:srgbClr val="23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943600"/>
            <a:ext cx="1490472" cy="914400"/>
          </a:xfrm>
          <a:prstGeom prst="rect">
            <a:avLst/>
          </a:prstGeom>
          <a:solidFill>
            <a:srgbClr val="23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40080"/>
            <a:ext cx="12191695" cy="10972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201168"/>
            <a:ext cx="301752" cy="3017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182880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OMNIKON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393192"/>
            <a:ext cx="219456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50" b="1">
                <a:solidFill>
                  <a:srgbClr val="71717A"/>
                </a:solidFill>
                <a:latin typeface="Aptos"/>
              </a:defRPr>
            </a:pPr>
            <a:r>
              <a:t>NATIONAL HACKATHON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7080" y="246888"/>
            <a:ext cx="7772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1000" b="1">
                <a:solidFill>
                  <a:srgbClr val="71717A"/>
                </a:solidFill>
                <a:latin typeface="Aptos Display"/>
              </a:defRPr>
            </a:pPr>
            <a:r>
              <a:t>02 // 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1024128"/>
            <a:ext cx="320040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Proposed</a:t>
            </a:r>
            <a:br/>
            <a:r>
              <a:t>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1828800"/>
            <a:ext cx="3657600" cy="320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0" b="0">
                <a:solidFill>
                  <a:srgbClr val="DC2626"/>
                </a:solidFill>
                <a:latin typeface="Aptos"/>
              </a:defRPr>
            </a:pPr>
          </a:p>
        </p:txBody>
      </p:sp>
      <p:sp>
        <p:nvSpPr>
          <p:cNvPr id="33" name="Rounded Rectangle 32"/>
          <p:cNvSpPr/>
          <p:nvPr/>
        </p:nvSpPr>
        <p:spPr>
          <a:xfrm>
            <a:off x="502920" y="1847088"/>
            <a:ext cx="384048" cy="32004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084831"/>
            <a:ext cx="338328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Aptos"/>
              </a:defRPr>
            </a:pPr>
            <a:r>
              <a:t>An AI-powered reconciliation agent that automates the tedious process of matching bank statements with internal ledgers — line by line.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60520" y="1024128"/>
            <a:ext cx="7498079" cy="713232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70832" y="1188720"/>
            <a:ext cx="310896" cy="310896"/>
          </a:xfrm>
          <a:prstGeom prst="roundRect">
            <a:avLst/>
          </a:prstGeom>
          <a:solidFill>
            <a:srgbClr val="2D1214"/>
          </a:solidFill>
          <a:ln w="8890">
            <a:solidFill>
              <a:srgbClr val="5A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Aptos Display"/>
              </a:defRPr>
            </a:pPr>
            <a:r>
              <a:t>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1152144"/>
            <a:ext cx="19659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Multi-Source Ingestion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1143000"/>
            <a:ext cx="480060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19" b="0">
                <a:solidFill>
                  <a:srgbClr val="A1A1AA"/>
                </a:solidFill>
                <a:latin typeface="Aptos"/>
              </a:defRPr>
            </a:pPr>
            <a:r>
              <a:t>Accepts CSV, Excel, or PDF bank statements and ledger exports, parsed into a unified transaction schema.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60520" y="1856232"/>
            <a:ext cx="7498079" cy="713232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370832" y="2020824"/>
            <a:ext cx="310896" cy="310896"/>
          </a:xfrm>
          <a:prstGeom prst="roundRect">
            <a:avLst/>
          </a:prstGeom>
          <a:solidFill>
            <a:srgbClr val="2D1214"/>
          </a:solidFill>
          <a:ln w="8890">
            <a:solidFill>
              <a:srgbClr val="5A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Aptos Display"/>
              </a:defRPr>
            </a:pPr>
            <a:r>
              <a:t>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600" y="1984248"/>
            <a:ext cx="19659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Automated Matching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1975104"/>
            <a:ext cx="480060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19" b="0">
                <a:solidFill>
                  <a:srgbClr val="A1A1AA"/>
                </a:solidFill>
                <a:latin typeface="Aptos"/>
              </a:defRPr>
            </a:pPr>
            <a:r>
              <a:t>Fuzzy pre-filter clears exact matches, timing lags, and rounding differences at zero LLM cost.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60520" y="2688336"/>
            <a:ext cx="7498079" cy="713232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370832" y="2852928"/>
            <a:ext cx="310896" cy="310896"/>
          </a:xfrm>
          <a:prstGeom prst="roundRect">
            <a:avLst/>
          </a:prstGeom>
          <a:solidFill>
            <a:srgbClr val="2D1214"/>
          </a:solidFill>
          <a:ln w="8890">
            <a:solidFill>
              <a:srgbClr val="5A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Aptos Display"/>
              </a:defRPr>
            </a:pPr>
            <a:r>
              <a:t>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00600" y="2816352"/>
            <a:ext cx="19659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AI Discrepancy Triage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2807208"/>
            <a:ext cx="480060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19" b="0">
                <a:solidFill>
                  <a:srgbClr val="A1A1AA"/>
                </a:solidFill>
                <a:latin typeface="Aptos"/>
              </a:defRPr>
            </a:pPr>
            <a:r>
              <a:t>Gemini classifies genuine leftover mismatches with a plain-English reason for each flag.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60520" y="3520440"/>
            <a:ext cx="7498079" cy="713232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370832" y="3685032"/>
            <a:ext cx="310896" cy="310896"/>
          </a:xfrm>
          <a:prstGeom prst="roundRect">
            <a:avLst/>
          </a:prstGeom>
          <a:solidFill>
            <a:srgbClr val="2D1214"/>
          </a:solidFill>
          <a:ln w="8890">
            <a:solidFill>
              <a:srgbClr val="5A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00600" y="3648456"/>
            <a:ext cx="19659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Balance Verification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3639312"/>
            <a:ext cx="480060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19" b="0">
                <a:solidFill>
                  <a:srgbClr val="A1A1AA"/>
                </a:solidFill>
                <a:latin typeface="Aptos"/>
              </a:defRPr>
            </a:pPr>
            <a:r>
              <a:t>Every auto-match is re-checked; nothing is ever force-matched silently.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60520" y="4352544"/>
            <a:ext cx="7498079" cy="713232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370832" y="4517136"/>
            <a:ext cx="310896" cy="310896"/>
          </a:xfrm>
          <a:prstGeom prst="roundRect">
            <a:avLst/>
          </a:prstGeom>
          <a:solidFill>
            <a:srgbClr val="2D1214"/>
          </a:solidFill>
          <a:ln w="8890">
            <a:solidFill>
              <a:srgbClr val="5A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Aptos Display"/>
              </a:defRPr>
            </a:pPr>
            <a:r>
              <a:t>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00600" y="4480560"/>
            <a:ext cx="19659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Human-in-the-Loop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7960" y="4471416"/>
            <a:ext cx="480060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19" b="0">
                <a:solidFill>
                  <a:srgbClr val="A1A1AA"/>
                </a:solidFill>
                <a:latin typeface="Aptos"/>
              </a:defRPr>
            </a:pPr>
            <a:r>
              <a:t>Ambiguous items always route to a review queue with a confidence score.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60520" y="5184648"/>
            <a:ext cx="7498079" cy="713232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370832" y="5349240"/>
            <a:ext cx="310896" cy="310896"/>
          </a:xfrm>
          <a:prstGeom prst="roundRect">
            <a:avLst/>
          </a:prstGeom>
          <a:solidFill>
            <a:srgbClr val="2D1214"/>
          </a:solidFill>
          <a:ln w="8890">
            <a:solidFill>
              <a:srgbClr val="5A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Aptos Display"/>
              </a:defRPr>
            </a:pPr>
            <a:r>
              <a:t>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00600" y="5312664"/>
            <a:ext cx="19659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Exportable Reports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60" y="5303520"/>
            <a:ext cx="480060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19" b="0">
                <a:solidFill>
                  <a:srgbClr val="A1A1AA"/>
                </a:solidFill>
                <a:latin typeface="Aptos"/>
              </a:defRPr>
            </a:pPr>
            <a:r>
              <a:t>One-click Excel report ready for an accountant or a loan application.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656832"/>
            <a:ext cx="27432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50" b="1">
                <a:solidFill>
                  <a:srgbClr val="71717A"/>
                </a:solidFill>
                <a:latin typeface="Aptos Display"/>
              </a:defRPr>
            </a:pPr>
            <a:r>
              <a:t>●  ONE MISSION. BUILD THE IMPOSSIBLE.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469880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0634472" y="6665976"/>
            <a:ext cx="210312" cy="6400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799063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0963655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1128248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1292840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98480" y="0"/>
            <a:ext cx="1490472" cy="914400"/>
          </a:xfrm>
          <a:prstGeom prst="rect">
            <a:avLst/>
          </a:prstGeom>
          <a:solidFill>
            <a:srgbClr val="23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943600"/>
            <a:ext cx="1490472" cy="914400"/>
          </a:xfrm>
          <a:prstGeom prst="rect">
            <a:avLst/>
          </a:prstGeom>
          <a:solidFill>
            <a:srgbClr val="23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40080"/>
            <a:ext cx="12191695" cy="10972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201168"/>
            <a:ext cx="301752" cy="3017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182880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OMNIKON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393192"/>
            <a:ext cx="219456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50" b="1">
                <a:solidFill>
                  <a:srgbClr val="71717A"/>
                </a:solidFill>
                <a:latin typeface="Aptos"/>
              </a:defRPr>
            </a:pPr>
            <a:r>
              <a:t>NATIONAL HACKATHON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7080" y="246888"/>
            <a:ext cx="7772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1000" b="1">
                <a:solidFill>
                  <a:srgbClr val="71717A"/>
                </a:solidFill>
                <a:latin typeface="Aptos Display"/>
              </a:defRPr>
            </a:pPr>
            <a:r>
              <a:t>03 // 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941832"/>
            <a:ext cx="777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 b="1">
                <a:solidFill>
                  <a:srgbClr val="71717A"/>
                </a:solidFill>
                <a:latin typeface="Aptos"/>
              </a:defRPr>
            </a:pPr>
            <a:r>
              <a:t>FIVE-STAGE PIPELINE — RULES HANDLE ROUTINE, AI REASONS ABOUT EXCEPTIONS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1298448"/>
            <a:ext cx="2057400" cy="749808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1435608"/>
            <a:ext cx="17830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Aptos Display"/>
              </a:defRPr>
            </a:pPr>
            <a:r>
              <a:t>SCAN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1645920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819" b="0">
                <a:solidFill>
                  <a:srgbClr val="A1A1AA"/>
                </a:solidFill>
                <a:latin typeface="Aptos"/>
              </a:defRPr>
            </a:pPr>
            <a:r>
              <a:t>Parse bank + ledger into one schema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39" y="1536192"/>
            <a:ext cx="2286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800" b="1">
                <a:solidFill>
                  <a:srgbClr val="71717A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34639" y="1298448"/>
            <a:ext cx="2057400" cy="749808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53511" y="1435608"/>
            <a:ext cx="17830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Aptos Display"/>
              </a:defRPr>
            </a:pPr>
            <a:r>
              <a:t>TRIAGE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44368" y="1645920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819" b="0">
                <a:solidFill>
                  <a:srgbClr val="A1A1AA"/>
                </a:solidFill>
                <a:latin typeface="Aptos"/>
              </a:defRPr>
            </a:pPr>
            <a:r>
              <a:t>Rules first, Gemini only on leftovers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59" y="1536192"/>
            <a:ext cx="2286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800" b="1">
                <a:solidFill>
                  <a:srgbClr val="71717A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66359" y="1298448"/>
            <a:ext cx="2057400" cy="749808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85231" y="1435608"/>
            <a:ext cx="17830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Aptos Display"/>
              </a:defRPr>
            </a:pPr>
            <a:r>
              <a:t>PATCH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76088" y="1645920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819" b="0">
                <a:solidFill>
                  <a:srgbClr val="A1A1AA"/>
                </a:solidFill>
                <a:latin typeface="Aptos"/>
              </a:defRPr>
            </a:pPr>
            <a:r>
              <a:t>Auto-link high-confidence matches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79" y="1536192"/>
            <a:ext cx="2286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800" b="1">
                <a:solidFill>
                  <a:srgbClr val="71717A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98079" y="1298448"/>
            <a:ext cx="2057400" cy="749808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16952" y="1435608"/>
            <a:ext cx="17830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Aptos Display"/>
              </a:defRPr>
            </a:pPr>
            <a:r>
              <a:t>VERIFY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07807" y="1645920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819" b="0">
                <a:solidFill>
                  <a:srgbClr val="A1A1AA"/>
                </a:solidFill>
                <a:latin typeface="Aptos"/>
              </a:defRPr>
            </a:pPr>
            <a:r>
              <a:t>Re-check balances; reject forced matches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1536192"/>
            <a:ext cx="2286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1800" b="1">
                <a:solidFill>
                  <a:srgbClr val="71717A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29800" y="1298448"/>
            <a:ext cx="2057400" cy="749808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48672" y="1435608"/>
            <a:ext cx="17830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Aptos Display"/>
              </a:defRPr>
            </a:pPr>
            <a:r>
              <a:t>SHIP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39528" y="1645920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819" b="0">
                <a:solidFill>
                  <a:srgbClr val="A1A1AA"/>
                </a:solidFill>
                <a:latin typeface="Aptos"/>
              </a:defRPr>
            </a:pPr>
            <a:r>
              <a:t>Dashboard + downloadable Excel report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2359152"/>
            <a:ext cx="45720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 b="1">
                <a:solidFill>
                  <a:srgbClr val="71717A"/>
                </a:solidFill>
                <a:latin typeface="Aptos"/>
              </a:defRPr>
            </a:pPr>
            <a:r>
              <a:t>VERIFIED TECH STACK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2651760"/>
            <a:ext cx="2606040" cy="420624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2715768"/>
            <a:ext cx="7772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20" b="1">
                <a:solidFill>
                  <a:srgbClr val="71717A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71600" y="2706624"/>
            <a:ext cx="1600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869" b="1">
                <a:solidFill>
                  <a:srgbClr val="A1A1AA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19272" y="2651760"/>
            <a:ext cx="2606040" cy="420624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10712" y="2715768"/>
            <a:ext cx="7772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20" b="1">
                <a:solidFill>
                  <a:srgbClr val="71717A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87952" y="2706624"/>
            <a:ext cx="1600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869" b="1">
                <a:solidFill>
                  <a:srgbClr val="A1A1AA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35624" y="2651760"/>
            <a:ext cx="2606040" cy="420624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27064" y="2715768"/>
            <a:ext cx="7772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20" b="1">
                <a:solidFill>
                  <a:srgbClr val="71717A"/>
                </a:solidFill>
                <a:latin typeface="Aptos"/>
              </a:defRPr>
            </a:pPr>
            <a:r>
              <a:t>MATCHING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04304" y="2706624"/>
            <a:ext cx="1600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869" b="1">
                <a:solidFill>
                  <a:srgbClr val="A1A1AA"/>
                </a:solidFill>
                <a:latin typeface="Aptos"/>
              </a:defRPr>
            </a:pPr>
            <a:r>
              <a:t>RapidFuzz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51976" y="2651760"/>
            <a:ext cx="2606040" cy="420624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43416" y="2715768"/>
            <a:ext cx="7772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20" b="1">
                <a:solidFill>
                  <a:srgbClr val="71717A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20656" y="2706624"/>
            <a:ext cx="1600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869" b="1">
                <a:solidFill>
                  <a:srgbClr val="A1A1AA"/>
                </a:solidFill>
                <a:latin typeface="Aptos"/>
              </a:defRPr>
            </a:pPr>
            <a:r>
              <a:t>Gemini 3.6 Flash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2920" y="3172968"/>
            <a:ext cx="2606040" cy="420624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" y="3236975"/>
            <a:ext cx="7772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20" b="1">
                <a:solidFill>
                  <a:srgbClr val="71717A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71600" y="3227832"/>
            <a:ext cx="1600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869" b="1">
                <a:solidFill>
                  <a:srgbClr val="A1A1AA"/>
                </a:solidFill>
                <a:latin typeface="Aptos"/>
              </a:defRPr>
            </a:pPr>
            <a:r>
              <a:t>Next.js 14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319272" y="3172968"/>
            <a:ext cx="2606040" cy="420624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10712" y="3236975"/>
            <a:ext cx="7772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20" b="1">
                <a:solidFill>
                  <a:srgbClr val="71717A"/>
                </a:solidFill>
                <a:latin typeface="Aptos"/>
              </a:defRPr>
            </a:pPr>
            <a:r>
              <a:t>LANGUAGE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87952" y="3227832"/>
            <a:ext cx="1600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869" b="1">
                <a:solidFill>
                  <a:srgbClr val="A1A1AA"/>
                </a:solidFill>
                <a:latin typeface="Aptos"/>
              </a:defRPr>
            </a:pPr>
            <a:r>
              <a:t>TypeScript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35624" y="3172968"/>
            <a:ext cx="2606040" cy="420624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27064" y="3236975"/>
            <a:ext cx="7772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20" b="1">
                <a:solidFill>
                  <a:srgbClr val="71717A"/>
                </a:solidFill>
                <a:latin typeface="Aptos"/>
              </a:defRPr>
            </a:pPr>
            <a:r>
              <a:t>STYLING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04304" y="3227832"/>
            <a:ext cx="1600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869" b="1">
                <a:solidFill>
                  <a:srgbClr val="A1A1AA"/>
                </a:solidFill>
                <a:latin typeface="Aptos"/>
              </a:defRPr>
            </a:pPr>
            <a:r>
              <a:t>Tailwind CSS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951976" y="3172968"/>
            <a:ext cx="2606040" cy="420624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043416" y="3236975"/>
            <a:ext cx="7772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20" b="1">
                <a:solidFill>
                  <a:srgbClr val="71717A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20656" y="3227832"/>
            <a:ext cx="1600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869" b="1">
                <a:solidFill>
                  <a:srgbClr val="A1A1AA"/>
                </a:solidFill>
                <a:latin typeface="Aptos"/>
              </a:defRPr>
            </a:pPr>
            <a:r>
              <a:t>openpyxl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3803904"/>
            <a:ext cx="68580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 b="1">
                <a:solidFill>
                  <a:srgbClr val="71717A"/>
                </a:solidFill>
                <a:latin typeface="Aptos"/>
              </a:defRPr>
            </a:pPr>
            <a:r>
              <a:t>IMPLEMENTATION METHODOLOGY — FIVE PHASES, EACH VERIFIED BEFORE PROCEEDING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2920" y="4114800"/>
            <a:ext cx="2148840" cy="1170432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2648" y="4251960"/>
            <a:ext cx="100584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50" b="1">
                <a:solidFill>
                  <a:srgbClr val="DC2626"/>
                </a:solidFill>
                <a:latin typeface="Aptos"/>
              </a:defRPr>
            </a:pPr>
            <a:r>
              <a:t>PHASE 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" y="4498848"/>
            <a:ext cx="192024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Aptos"/>
              </a:defRPr>
            </a:pPr>
            <a:r>
              <a:t>Ingestion &amp; Normalization — CSV/Excel/PDF parsers into one schema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834639" y="4114800"/>
            <a:ext cx="2148840" cy="1170432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44368" y="4251960"/>
            <a:ext cx="100584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50" b="1">
                <a:solidFill>
                  <a:srgbClr val="DC2626"/>
                </a:solidFill>
                <a:latin typeface="Aptos"/>
              </a:defRPr>
            </a:pPr>
            <a:r>
              <a:t>PHASE 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44368" y="4498848"/>
            <a:ext cx="192024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Aptos"/>
              </a:defRPr>
            </a:pPr>
            <a:r>
              <a:t>Matching Engine — Rule-based prematch + Gemini triage (91% resolved)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166359" y="4114800"/>
            <a:ext cx="2148840" cy="1170432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76088" y="4251960"/>
            <a:ext cx="100584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50" b="1">
                <a:solidFill>
                  <a:srgbClr val="DC2626"/>
                </a:solidFill>
                <a:latin typeface="Aptos"/>
              </a:defRPr>
            </a:pPr>
            <a:r>
              <a:t>PHASE 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76088" y="4498848"/>
            <a:ext cx="192024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Aptos"/>
              </a:defRPr>
            </a:pPr>
            <a:r>
              <a:t>Verify &amp; Ship — Balance check + downloadable Excel report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498079" y="4114800"/>
            <a:ext cx="2148840" cy="1170432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607807" y="4251960"/>
            <a:ext cx="100584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50" b="1">
                <a:solidFill>
                  <a:srgbClr val="DC2626"/>
                </a:solidFill>
                <a:latin typeface="Aptos"/>
              </a:defRPr>
            </a:pPr>
            <a:r>
              <a:t>PHASE 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07807" y="4498848"/>
            <a:ext cx="192024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Aptos"/>
              </a:defRPr>
            </a:pPr>
            <a:r>
              <a:t>Live Dashboard — Next.js frontend, connected to real backend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829800" y="4114800"/>
            <a:ext cx="2148840" cy="1170432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939528" y="4251960"/>
            <a:ext cx="100584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50" b="1">
                <a:solidFill>
                  <a:srgbClr val="DC2626"/>
                </a:solidFill>
                <a:latin typeface="Aptos"/>
              </a:defRPr>
            </a:pPr>
            <a:r>
              <a:t>PHASE 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939528" y="4498848"/>
            <a:ext cx="192024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Aptos"/>
              </a:defRPr>
            </a:pPr>
            <a:r>
              <a:t>AI Integration — Real Gemini API, live LLM explanations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7200" y="6656832"/>
            <a:ext cx="27432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50" b="1">
                <a:solidFill>
                  <a:srgbClr val="71717A"/>
                </a:solidFill>
                <a:latin typeface="Aptos Display"/>
              </a:defRPr>
            </a:pPr>
            <a:r>
              <a:t>●  ONE MISSION. BUILD THE IMPOSSIBLE.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0469880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10634472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10799063" y="6665976"/>
            <a:ext cx="210312" cy="6400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10963655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11128248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11292840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98480" y="0"/>
            <a:ext cx="1490472" cy="914400"/>
          </a:xfrm>
          <a:prstGeom prst="rect">
            <a:avLst/>
          </a:prstGeom>
          <a:solidFill>
            <a:srgbClr val="23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943600"/>
            <a:ext cx="1490472" cy="914400"/>
          </a:xfrm>
          <a:prstGeom prst="rect">
            <a:avLst/>
          </a:prstGeom>
          <a:solidFill>
            <a:srgbClr val="23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40080"/>
            <a:ext cx="12191695" cy="10972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201168"/>
            <a:ext cx="301752" cy="3017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182880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OMNIKON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393192"/>
            <a:ext cx="219456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50" b="1">
                <a:solidFill>
                  <a:srgbClr val="71717A"/>
                </a:solidFill>
                <a:latin typeface="Aptos"/>
              </a:defRPr>
            </a:pPr>
            <a:r>
              <a:t>NATIONAL HACKATHON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7080" y="246888"/>
            <a:ext cx="7772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1000" b="1">
                <a:solidFill>
                  <a:srgbClr val="71717A"/>
                </a:solidFill>
                <a:latin typeface="Aptos Display"/>
              </a:defRPr>
            </a:pPr>
            <a:r>
              <a:t>04 // 06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005840"/>
            <a:ext cx="5532120" cy="2240280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13232" y="1234440"/>
            <a:ext cx="310896" cy="310896"/>
          </a:xfrm>
          <a:prstGeom prst="roundRect">
            <a:avLst/>
          </a:prstGeom>
          <a:solidFill>
            <a:srgbClr val="2D1214"/>
          </a:solidFill>
          <a:ln w="8890">
            <a:solidFill>
              <a:srgbClr val="5A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" y="1225296"/>
            <a:ext cx="44805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 Display"/>
              </a:defRPr>
            </a:pPr>
            <a:r>
              <a:t>Feasibility — Proven Incrementally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1627632"/>
            <a:ext cx="10972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40" b="1">
                <a:solidFill>
                  <a:srgbClr val="DC2626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1627632"/>
            <a:ext cx="4828032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40" b="0">
                <a:solidFill>
                  <a:srgbClr val="A1A1AA"/>
                </a:solidFill>
                <a:latin typeface="Aptos"/>
              </a:defRPr>
            </a:pPr>
            <a:r>
              <a:t>Each of 5 phases built and verified independently before advancing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1920240"/>
            <a:ext cx="10972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40" b="1">
                <a:solidFill>
                  <a:srgbClr val="DC2626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1920240"/>
            <a:ext cx="4828032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40" b="0">
                <a:solidFill>
                  <a:srgbClr val="A1A1AA"/>
                </a:solidFill>
                <a:latin typeface="Aptos"/>
              </a:defRPr>
            </a:pPr>
            <a:r>
              <a:t>91% auto-resolution rate achieved on real 202-transaction test dataset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2212848"/>
            <a:ext cx="10972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40" b="1">
                <a:solidFill>
                  <a:srgbClr val="DC2626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2212848"/>
            <a:ext cx="4828032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40" b="0">
                <a:solidFill>
                  <a:srgbClr val="A1A1AA"/>
                </a:solidFill>
                <a:latin typeface="Aptos"/>
              </a:defRPr>
            </a:pPr>
            <a:r>
              <a:t>Zero forced matches — every result passes re-verification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2505456"/>
            <a:ext cx="10972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40" b="1">
                <a:solidFill>
                  <a:srgbClr val="DC2626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2505456"/>
            <a:ext cx="4828032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40" b="0">
                <a:solidFill>
                  <a:srgbClr val="A1A1AA"/>
                </a:solidFill>
                <a:latin typeface="Aptos"/>
              </a:defRPr>
            </a:pPr>
            <a:r>
              <a:t>100% transaction completeness — nothing silently dropped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2798064"/>
            <a:ext cx="10972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40" b="1">
                <a:solidFill>
                  <a:srgbClr val="DC2626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2798064"/>
            <a:ext cx="4828032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40" b="0">
                <a:solidFill>
                  <a:srgbClr val="A1A1AA"/>
                </a:solidFill>
                <a:latin typeface="Aptos"/>
              </a:defRPr>
            </a:pPr>
            <a:r>
              <a:t>Live end-to-end pipeline confirmed working, not a mockup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1005840"/>
            <a:ext cx="5513832" cy="2240280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82512" y="1234440"/>
            <a:ext cx="310896" cy="310896"/>
          </a:xfrm>
          <a:prstGeom prst="roundRect">
            <a:avLst/>
          </a:prstGeom>
          <a:solidFill>
            <a:srgbClr val="2D1214"/>
          </a:solidFill>
          <a:ln w="8890">
            <a:solidFill>
              <a:srgbClr val="5A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Aptos Display"/>
              </a:defRPr>
            </a:pPr>
            <a:r>
              <a:t>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93992" y="1225296"/>
            <a:ext cx="44805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 Display"/>
              </a:defRPr>
            </a:pPr>
            <a:r>
              <a:t>Challenges &amp; Risks Faced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9088" y="1609344"/>
            <a:ext cx="10972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70" b="1">
                <a:solidFill>
                  <a:srgbClr val="DC2626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74536" y="1609344"/>
            <a:ext cx="4736592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70" b="0">
                <a:solidFill>
                  <a:srgbClr val="A1A1AA"/>
                </a:solidFill>
                <a:latin typeface="Aptos"/>
              </a:defRPr>
            </a:pPr>
            <a:r>
              <a:t>LLM SDK Deprecated Mid-Build — Migrated from legacy google-generativeai to current google-genai SDK with structured JSON schema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9088" y="1993392"/>
            <a:ext cx="10972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70" b="1">
                <a:solidFill>
                  <a:srgbClr val="DC2626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74536" y="1993392"/>
            <a:ext cx="4736592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70" b="0">
                <a:solidFill>
                  <a:srgbClr val="A1A1AA"/>
                </a:solidFill>
                <a:latin typeface="Aptos"/>
              </a:defRPr>
            </a:pPr>
            <a:r>
              <a:t>Model Retired During Testing — gemini-2.0-flash returned 404; replacement (gemini-3.6-flash) fixed same day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19088" y="2377440"/>
            <a:ext cx="10972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70" b="1">
                <a:solidFill>
                  <a:srgbClr val="DC2626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74536" y="2377440"/>
            <a:ext cx="4736592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70" b="0">
                <a:solidFill>
                  <a:srgbClr val="A1A1AA"/>
                </a:solidFill>
                <a:latin typeface="Aptos"/>
              </a:defRPr>
            </a:pPr>
            <a:r>
              <a:t>Silent Report Bug — Enum values rendered as raw Python objects in Excel; caught by manual QA and fixed at source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9088" y="2761488"/>
            <a:ext cx="10972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70" b="1">
                <a:solidFill>
                  <a:srgbClr val="DC2626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74536" y="2761488"/>
            <a:ext cx="4736592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70" b="0">
                <a:solidFill>
                  <a:srgbClr val="A1A1AA"/>
                </a:solidFill>
                <a:latin typeface="Aptos"/>
              </a:defRPr>
            </a:pPr>
            <a:r>
              <a:t>Threshold Design Risk — Rounding differences could hide real errors; solved by strict re-verification + human escalation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3493008"/>
            <a:ext cx="11183112" cy="2240280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13232" y="3730752"/>
            <a:ext cx="310896" cy="310896"/>
          </a:xfrm>
          <a:prstGeom prst="roundRect">
            <a:avLst/>
          </a:prstGeom>
          <a:solidFill>
            <a:srgbClr val="2D1214"/>
          </a:solidFill>
          <a:ln w="8890">
            <a:solidFill>
              <a:srgbClr val="5A1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4712" y="3721608"/>
            <a:ext cx="5486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 Display"/>
              </a:defRPr>
            </a:pPr>
            <a:r>
              <a:t>Strategies for Overcoming Challenges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8" y="4114800"/>
            <a:ext cx="2423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Never Force a Match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" y="4352544"/>
            <a:ext cx="24231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70" b="0">
                <a:solidFill>
                  <a:srgbClr val="A1A1AA"/>
                </a:solidFill>
                <a:latin typeface="Aptos"/>
              </a:defRPr>
            </a:pPr>
            <a:r>
              <a:t>Anything that fails re-verification goes back to a human — every time, no exceptions.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93008" y="4114800"/>
            <a:ext cx="2423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Graceful API Migration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93008" y="4352544"/>
            <a:ext cx="24231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70" b="0">
                <a:solidFill>
                  <a:srgbClr val="A1A1AA"/>
                </a:solidFill>
                <a:latin typeface="Aptos"/>
              </a:defRPr>
            </a:pPr>
            <a:r>
              <a:t>Structured JSON schemas instead of prompt-only parsing ensure stability across SDK versions.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36208" y="4114800"/>
            <a:ext cx="2423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Manual QA Gates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36208" y="4352544"/>
            <a:ext cx="24231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70" b="0">
                <a:solidFill>
                  <a:srgbClr val="A1A1AA"/>
                </a:solidFill>
                <a:latin typeface="Aptos"/>
              </a:defRPr>
            </a:pPr>
            <a:r>
              <a:t>Every generated report is manually opened and checked — automated tests catch logic, humans catch formatting.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79408" y="4114800"/>
            <a:ext cx="2423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Rules-First Design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79408" y="4352544"/>
            <a:ext cx="24231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70" b="0">
                <a:solidFill>
                  <a:srgbClr val="A1A1AA"/>
                </a:solidFill>
                <a:latin typeface="Aptos"/>
              </a:defRPr>
            </a:pPr>
            <a:r>
              <a:t>LLM only handles genuine exceptions — minimizes cost, latency, and hallucination surface area.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6656832"/>
            <a:ext cx="27432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50" b="1">
                <a:solidFill>
                  <a:srgbClr val="71717A"/>
                </a:solidFill>
                <a:latin typeface="Aptos Display"/>
              </a:defRPr>
            </a:pPr>
            <a:r>
              <a:t>●  ONE MISSION. BUILD THE IMPOSSIBLE.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469880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0634472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0799063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963655" y="6665976"/>
            <a:ext cx="210312" cy="6400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1128248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1292840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98480" y="0"/>
            <a:ext cx="1490472" cy="914400"/>
          </a:xfrm>
          <a:prstGeom prst="rect">
            <a:avLst/>
          </a:prstGeom>
          <a:solidFill>
            <a:srgbClr val="23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943600"/>
            <a:ext cx="1490472" cy="914400"/>
          </a:xfrm>
          <a:prstGeom prst="rect">
            <a:avLst/>
          </a:prstGeom>
          <a:solidFill>
            <a:srgbClr val="23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40080"/>
            <a:ext cx="12191695" cy="10972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201168"/>
            <a:ext cx="301752" cy="3017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182880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OMNIKON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393192"/>
            <a:ext cx="219456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50" b="1">
                <a:solidFill>
                  <a:srgbClr val="71717A"/>
                </a:solidFill>
                <a:latin typeface="Aptos"/>
              </a:defRPr>
            </a:pPr>
            <a:r>
              <a:t>NATIONAL HACKATHON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7080" y="246888"/>
            <a:ext cx="7772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1000" b="1">
                <a:solidFill>
                  <a:srgbClr val="71717A"/>
                </a:solidFill>
                <a:latin typeface="Aptos Display"/>
              </a:defRPr>
            </a:pPr>
            <a:r>
              <a:t>05 // 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932688"/>
            <a:ext cx="45720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 Display"/>
              </a:defRPr>
            </a:pPr>
            <a:r>
              <a:t>LIVE RESULTS — REAL RUN, NOT A MOCKUP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1307592"/>
            <a:ext cx="2606040" cy="960120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1527048"/>
            <a:ext cx="260604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2700" b="1">
                <a:solidFill>
                  <a:srgbClr val="DC2626"/>
                </a:solidFill>
                <a:latin typeface="Aptos Display"/>
              </a:defRPr>
            </a:pPr>
            <a:r>
              <a:t>91%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1965960"/>
            <a:ext cx="260604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740" b="1">
                <a:solidFill>
                  <a:srgbClr val="71717A"/>
                </a:solidFill>
                <a:latin typeface="Aptos"/>
              </a:defRPr>
            </a:pPr>
            <a:r>
              <a:t>AUTO-RESOLVED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7560" y="1307592"/>
            <a:ext cx="2606040" cy="960120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37560" y="1527048"/>
            <a:ext cx="260604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2700" b="1">
                <a:solidFill>
                  <a:srgbClr val="DC2626"/>
                </a:solidFill>
                <a:latin typeface="Aptos Display"/>
              </a:defRPr>
            </a:pPr>
            <a:r>
              <a:t>202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1965960"/>
            <a:ext cx="260604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740" b="1">
                <a:solidFill>
                  <a:srgbClr val="71717A"/>
                </a:solidFill>
                <a:latin typeface="Aptos"/>
              </a:defRPr>
            </a:pPr>
            <a:r>
              <a:t>TRANSACTIONS TESTED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1307592"/>
            <a:ext cx="2606040" cy="960120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1527048"/>
            <a:ext cx="260604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2700" b="1">
                <a:solidFill>
                  <a:srgbClr val="DC2626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1965960"/>
            <a:ext cx="260604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740" b="1">
                <a:solidFill>
                  <a:srgbClr val="71717A"/>
                </a:solidFill>
                <a:latin typeface="Aptos"/>
              </a:defRPr>
            </a:pPr>
            <a:r>
              <a:t>FORCED MATCHES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06840" y="1307592"/>
            <a:ext cx="2606040" cy="960120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6840" y="1527048"/>
            <a:ext cx="260604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2700" b="1">
                <a:solidFill>
                  <a:srgbClr val="DC2626"/>
                </a:solidFill>
                <a:latin typeface="Aptos Display"/>
              </a:defRPr>
            </a:pPr>
            <a:r>
              <a:t>100%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1965960"/>
            <a:ext cx="260604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740" b="1">
                <a:solidFill>
                  <a:srgbClr val="71717A"/>
                </a:solidFill>
                <a:latin typeface="Aptos"/>
              </a:defRPr>
            </a:pPr>
            <a:r>
              <a:t>ACCOUNTED FOR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" y="2487168"/>
            <a:ext cx="10972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60" b="0">
                <a:solidFill>
                  <a:srgbClr val="71717A"/>
                </a:solidFill>
                <a:latin typeface="Aptos"/>
              </a:defRPr>
            </a:pPr>
            <a:r>
              <a:t>Every flagged item ships with a plain-English reason — generated live by Gemini, not a canned template.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2907792"/>
            <a:ext cx="36576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 Display"/>
              </a:defRPr>
            </a:pPr>
            <a:r>
              <a:t>IMPACT &amp; BENEFITS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3319272"/>
            <a:ext cx="3493008" cy="932688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" y="3447288"/>
            <a:ext cx="318211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Time Savings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" y="3712463"/>
            <a:ext cx="3182112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80" b="0">
                <a:solidFill>
                  <a:srgbClr val="A1A1AA"/>
                </a:solidFill>
                <a:latin typeface="Aptos"/>
              </a:defRPr>
            </a:pPr>
            <a:r>
              <a:t>Eliminates 2–8 hours spent monthly on manual reconciliation for small businesses — freeing owners to focus on growth.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51959" y="3319272"/>
            <a:ext cx="3493008" cy="932688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98264" y="3447288"/>
            <a:ext cx="318211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Financial Inclusion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98264" y="3712463"/>
            <a:ext cx="3182112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80" b="0">
                <a:solidFill>
                  <a:srgbClr val="A1A1AA"/>
                </a:solidFill>
                <a:latin typeface="Aptos"/>
              </a:defRPr>
            </a:pPr>
            <a:r>
              <a:t>Clean books unlock access to loans, investor trust, and tax compliance — messy books quietly lock small businesses out.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01000" y="3319272"/>
            <a:ext cx="3493008" cy="932688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47304" y="3447288"/>
            <a:ext cx="318211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Error Reduction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47304" y="3712463"/>
            <a:ext cx="3182112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80" b="0">
                <a:solidFill>
                  <a:srgbClr val="A1A1AA"/>
                </a:solidFill>
                <a:latin typeface="Aptos"/>
              </a:defRPr>
            </a:pPr>
            <a:r>
              <a:t>90%+ of transactions are routine exact matches — automating these eliminates human error in repetitive tasks.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4416552"/>
            <a:ext cx="3493008" cy="932688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" y="4544568"/>
            <a:ext cx="318211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Scalability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" y="4809744"/>
            <a:ext cx="3182112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80" b="0">
                <a:solidFill>
                  <a:srgbClr val="A1A1AA"/>
                </a:solidFill>
                <a:latin typeface="Aptos"/>
              </a:defRPr>
            </a:pPr>
            <a:r>
              <a:t>Fixed-cost AI pipeline that scales linearly — no matter how many transactions, the per-unit cost stays constant.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51959" y="4416552"/>
            <a:ext cx="3493008" cy="932688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98264" y="4544568"/>
            <a:ext cx="318211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Transparency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98264" y="4809744"/>
            <a:ext cx="3182112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80" b="0">
                <a:solidFill>
                  <a:srgbClr val="A1A1AA"/>
                </a:solidFill>
                <a:latin typeface="Aptos"/>
              </a:defRPr>
            </a:pPr>
            <a:r>
              <a:t>Every AI decision comes with a plain-English explanation and confidence score — no black-box matching.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01000" y="4416552"/>
            <a:ext cx="3493008" cy="932688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47304" y="4544568"/>
            <a:ext cx="318211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t>Future-Ready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47304" y="4809744"/>
            <a:ext cx="3182112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80" b="0">
                <a:solidFill>
                  <a:srgbClr val="A1A1AA"/>
                </a:solidFill>
                <a:latin typeface="Aptos"/>
              </a:defRPr>
            </a:pPr>
            <a:r>
              <a:t>Roadmap to bank feeds, accounting plugins, multi-currency, and predictive cash-flow insights — demo-ready core today.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6656832"/>
            <a:ext cx="27432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50" b="1">
                <a:solidFill>
                  <a:srgbClr val="71717A"/>
                </a:solidFill>
                <a:latin typeface="Aptos Display"/>
              </a:defRPr>
            </a:pPr>
            <a:r>
              <a:t>●  ONE MISSION. BUILD THE IMPOSSIBLE.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469880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0634472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799063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0963655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1128248" y="6665976"/>
            <a:ext cx="210312" cy="6400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1292840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4572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4572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98480" y="0"/>
            <a:ext cx="1490472" cy="914400"/>
          </a:xfrm>
          <a:prstGeom prst="rect">
            <a:avLst/>
          </a:prstGeom>
          <a:solidFill>
            <a:srgbClr val="23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943600"/>
            <a:ext cx="1490472" cy="914400"/>
          </a:xfrm>
          <a:prstGeom prst="rect">
            <a:avLst/>
          </a:prstGeom>
          <a:solidFill>
            <a:srgbClr val="23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40080"/>
            <a:ext cx="12191695" cy="10972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201168"/>
            <a:ext cx="301752" cy="30175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182880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OMNIKON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393192"/>
            <a:ext cx="219456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50" b="1">
                <a:solidFill>
                  <a:srgbClr val="71717A"/>
                </a:solidFill>
                <a:latin typeface="Aptos"/>
              </a:defRPr>
            </a:pPr>
            <a:r>
              <a:t>NATIONAL HACKATHON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27080" y="246888"/>
            <a:ext cx="7772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defRPr sz="1000" b="1">
                <a:solidFill>
                  <a:srgbClr val="71717A"/>
                </a:solidFill>
                <a:latin typeface="Aptos Display"/>
              </a:defRPr>
            </a:pPr>
            <a:r>
              <a:t>06 // 06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960120"/>
            <a:ext cx="11183112" cy="566928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1133856"/>
            <a:ext cx="27432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50" b="1">
                <a:solidFill>
                  <a:srgbClr val="DC2626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1069848"/>
            <a:ext cx="7178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10" b="1">
                <a:solidFill>
                  <a:srgbClr val="FFFFFF"/>
                </a:solidFill>
                <a:latin typeface="Aptos"/>
              </a:defRPr>
            </a:pPr>
            <a:r>
              <a:t>Google Gemini API — Structured JSON Output &amp; Model Documentation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1289304"/>
            <a:ext cx="717804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20" b="0">
                <a:solidFill>
                  <a:srgbClr val="71717A"/>
                </a:solidFill>
                <a:latin typeface="Aptos"/>
              </a:defRPr>
            </a:pPr>
            <a:r>
              <a:t>ai.google.dev/gemini-api/docs/structured-output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95560" y="1097280"/>
            <a:ext cx="1143000" cy="256032"/>
          </a:xfrm>
          <a:prstGeom prst="roundRect">
            <a:avLst/>
          </a:prstGeom>
          <a:solidFill>
            <a:srgbClr val="101013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95560" y="1161288"/>
            <a:ext cx="114300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670" b="1">
                <a:solidFill>
                  <a:srgbClr val="71717A"/>
                </a:solidFill>
                <a:latin typeface="Aptos"/>
              </a:defRPr>
            </a:pPr>
            <a:r>
              <a:t>AI MODEL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1673352"/>
            <a:ext cx="11183112" cy="566928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1847088"/>
            <a:ext cx="27432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50" b="1">
                <a:solidFill>
                  <a:srgbClr val="DC2626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1783080"/>
            <a:ext cx="7178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10" b="1">
                <a:solidFill>
                  <a:srgbClr val="FFFFFF"/>
                </a:solidFill>
                <a:latin typeface="Aptos"/>
              </a:defRPr>
            </a:pPr>
            <a:r>
              <a:t>RapidFuzz — Fast String Matching &amp; Fuzzy Logic Library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2002536"/>
            <a:ext cx="717804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20" b="0">
                <a:solidFill>
                  <a:srgbClr val="71717A"/>
                </a:solidFill>
                <a:latin typeface="Aptos"/>
              </a:defRPr>
            </a:pPr>
            <a:r>
              <a:t>github.com/maxbachmann/RapidFuzz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95560" y="1810512"/>
            <a:ext cx="1143000" cy="256032"/>
          </a:xfrm>
          <a:prstGeom prst="roundRect">
            <a:avLst/>
          </a:prstGeom>
          <a:solidFill>
            <a:srgbClr val="101013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95560" y="1874520"/>
            <a:ext cx="114300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670" b="1">
                <a:solidFill>
                  <a:srgbClr val="71717A"/>
                </a:solidFill>
                <a:latin typeface="Aptos"/>
              </a:defRPr>
            </a:pPr>
            <a:r>
              <a:t>MATCHING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2386584"/>
            <a:ext cx="11183112" cy="566928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2560320"/>
            <a:ext cx="27432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50" b="1">
                <a:solidFill>
                  <a:srgbClr val="DC2626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2496312"/>
            <a:ext cx="7178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10" b="1">
                <a:solidFill>
                  <a:srgbClr val="FFFFFF"/>
                </a:solidFill>
                <a:latin typeface="Aptos"/>
              </a:defRPr>
            </a:pPr>
            <a:r>
              <a:t>FastAPI — Modern High-Performance Python Web Framework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2715768"/>
            <a:ext cx="717804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20" b="0">
                <a:solidFill>
                  <a:srgbClr val="71717A"/>
                </a:solidFill>
                <a:latin typeface="Aptos"/>
              </a:defRPr>
            </a:pPr>
            <a:r>
              <a:t>fastapi.tiangolo.com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195560" y="2523744"/>
            <a:ext cx="1143000" cy="256032"/>
          </a:xfrm>
          <a:prstGeom prst="roundRect">
            <a:avLst/>
          </a:prstGeom>
          <a:solidFill>
            <a:srgbClr val="101013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95560" y="2587752"/>
            <a:ext cx="114300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670" b="1">
                <a:solidFill>
                  <a:srgbClr val="71717A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3099815"/>
            <a:ext cx="11183112" cy="566928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273551"/>
            <a:ext cx="27432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50" b="1">
                <a:solidFill>
                  <a:srgbClr val="DC2626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" y="3209544"/>
            <a:ext cx="7178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10" b="1">
                <a:solidFill>
                  <a:srgbClr val="FFFFFF"/>
                </a:solidFill>
                <a:latin typeface="Aptos"/>
              </a:defRPr>
            </a:pPr>
            <a:r>
              <a:t>Next.js 14 — The React Framework for Production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428999"/>
            <a:ext cx="717804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20" b="0">
                <a:solidFill>
                  <a:srgbClr val="71717A"/>
                </a:solidFill>
                <a:latin typeface="Aptos"/>
              </a:defRPr>
            </a:pPr>
            <a:r>
              <a:t>nextjs.org/docs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195560" y="3236975"/>
            <a:ext cx="1143000" cy="256032"/>
          </a:xfrm>
          <a:prstGeom prst="roundRect">
            <a:avLst/>
          </a:prstGeom>
          <a:solidFill>
            <a:srgbClr val="101013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95560" y="3300984"/>
            <a:ext cx="114300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670" b="1">
                <a:solidFill>
                  <a:srgbClr val="71717A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3813048"/>
            <a:ext cx="11183112" cy="566928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3232" y="3986784"/>
            <a:ext cx="27432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50" b="1">
                <a:solidFill>
                  <a:srgbClr val="DC2626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" y="3922776"/>
            <a:ext cx="7178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10" b="1">
                <a:solidFill>
                  <a:srgbClr val="FFFFFF"/>
                </a:solidFill>
                <a:latin typeface="Aptos"/>
              </a:defRPr>
            </a:pPr>
            <a:r>
              <a:t>openpyxl — Python Library for Reading/Writing Excel Files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4142232"/>
            <a:ext cx="717804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20" b="0">
                <a:solidFill>
                  <a:srgbClr val="71717A"/>
                </a:solidFill>
                <a:latin typeface="Aptos"/>
              </a:defRPr>
            </a:pPr>
            <a:r>
              <a:t>openpyxl.readthedocs.io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195560" y="3950208"/>
            <a:ext cx="1143000" cy="256032"/>
          </a:xfrm>
          <a:prstGeom prst="roundRect">
            <a:avLst/>
          </a:prstGeom>
          <a:solidFill>
            <a:srgbClr val="101013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195560" y="4014215"/>
            <a:ext cx="114300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670" b="1">
                <a:solidFill>
                  <a:srgbClr val="71717A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02920" y="4526280"/>
            <a:ext cx="11183112" cy="566928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3232" y="4700016"/>
            <a:ext cx="27432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50" b="1">
                <a:solidFill>
                  <a:srgbClr val="DC2626"/>
                </a:solidFill>
                <a:latin typeface="Aptos Display"/>
              </a:defRPr>
            </a:pPr>
            <a:r>
              <a:t>06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" y="4636008"/>
            <a:ext cx="7178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10" b="1">
                <a:solidFill>
                  <a:srgbClr val="FFFFFF"/>
                </a:solidFill>
                <a:latin typeface="Aptos"/>
              </a:defRPr>
            </a:pPr>
            <a:r>
              <a:t>Account Reconciliation — Best Practices &amp; Compliance Standards (RBI, IFRS)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" y="4855464"/>
            <a:ext cx="717804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20" b="0">
                <a:solidFill>
                  <a:srgbClr val="71717A"/>
                </a:solidFill>
                <a:latin typeface="Aptos"/>
              </a:defRPr>
            </a:pPr>
            <a:r>
              <a:t>rbi.org.in | ifrs.org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195560" y="4663440"/>
            <a:ext cx="1143000" cy="256032"/>
          </a:xfrm>
          <a:prstGeom prst="roundRect">
            <a:avLst/>
          </a:prstGeom>
          <a:solidFill>
            <a:srgbClr val="101013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95560" y="4727448"/>
            <a:ext cx="114300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670" b="1">
                <a:solidFill>
                  <a:srgbClr val="71717A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02920" y="5239512"/>
            <a:ext cx="11183112" cy="566928"/>
          </a:xfrm>
          <a:prstGeom prst="roundRect">
            <a:avLst/>
          </a:prstGeom>
          <a:solidFill>
            <a:srgbClr val="131316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3232" y="5413248"/>
            <a:ext cx="27432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850" b="1">
                <a:solidFill>
                  <a:srgbClr val="DC2626"/>
                </a:solidFill>
                <a:latin typeface="Aptos Display"/>
              </a:defRPr>
            </a:pPr>
            <a:r>
              <a:t>07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" y="5349240"/>
            <a:ext cx="71780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910" b="1">
                <a:solidFill>
                  <a:srgbClr val="FFFFFF"/>
                </a:solidFill>
                <a:latin typeface="Aptos"/>
              </a:defRPr>
            </a:pPr>
            <a:r>
              <a:t>pandas — Python Data Analysis &amp; Manipulation Library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" y="5568696"/>
            <a:ext cx="717804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20" b="0">
                <a:solidFill>
                  <a:srgbClr val="71717A"/>
                </a:solidFill>
                <a:latin typeface="Aptos"/>
              </a:defRPr>
            </a:pPr>
            <a:r>
              <a:t>pandas.pydata.org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195560" y="5376672"/>
            <a:ext cx="1143000" cy="256032"/>
          </a:xfrm>
          <a:prstGeom prst="roundRect">
            <a:avLst/>
          </a:prstGeom>
          <a:solidFill>
            <a:srgbClr val="101013"/>
          </a:solidFill>
          <a:ln w="889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95560" y="5440679"/>
            <a:ext cx="114300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 sz="670" b="1">
                <a:solidFill>
                  <a:srgbClr val="71717A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656832"/>
            <a:ext cx="27432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defRPr sz="750" b="1">
                <a:solidFill>
                  <a:srgbClr val="71717A"/>
                </a:solidFill>
                <a:latin typeface="Aptos Display"/>
              </a:defRPr>
            </a:pPr>
            <a:r>
              <a:t>●  ONE MISSION. BUILD THE IMPOSSIBLE.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469880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0634472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0799063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0963655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1128248" y="6665976"/>
            <a:ext cx="82296" cy="640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11292840" y="6665976"/>
            <a:ext cx="210312" cy="6400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